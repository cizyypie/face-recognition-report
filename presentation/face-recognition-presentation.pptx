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37160" cy="2926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D4ED8"/>
                </a:solidFill>
                <a:latin typeface="Segoe UI"/>
              </a:defRPr>
            </a:pPr>
            <a:r>
              <a:t>WAHANA SWB APP  |  MODUL PRESENSI BIOMETRIK</a:t>
            </a:r>
          </a:p>
          <a:p>
            <a:pPr>
              <a:spcAft>
                <a:spcPts val="1000"/>
              </a:spcAft>
              <a:defRPr sz="4000" b="1">
                <a:solidFill>
                  <a:srgbClr val="0F172A"/>
                </a:solidFill>
                <a:latin typeface="Segoe UI"/>
              </a:defRPr>
            </a:pPr>
            <a:r>
              <a:t>Face Recognition Absensi</a:t>
            </a: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Laporan Penambahan Fitur, Optimasi Performa &amp; Refaktorisasi Arsitektur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Branch: face-attendance-human  |  Periode: 30 September - 09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WAHANA SWB APP | BRANCH: FACE-ATTENDANCE-HUMAN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Latar Belakang &amp; Masalah Utama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800"/>
              </a:spcAft>
              <a:defRPr sz="1550" b="1">
                <a:solidFill>
                  <a:srgbClr val="1D4ED8"/>
                </a:solidFill>
                <a:latin typeface="Segoe UI"/>
              </a:defRPr>
            </a:pPr>
            <a:r>
              <a:t>Latar Belakang &amp; Kebutuhan Bisnis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Presensi nirsentuh berbasis Progressive Web App (PWA) mobile.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Pencegahan fraud titip absen (buddy punching) pada absensi QR Code.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Validasi lokasi fisik GPS karyawan secara server-side terintegrasi.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Kebutuhan otentikasi biometrik yang aman tanpa mengorbankan privasi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800"/>
              </a:spcAft>
              <a:defRPr sz="1550" b="1">
                <a:solidFill>
                  <a:srgbClr val="1D4ED8"/>
                </a:solidFill>
                <a:latin typeface="Segoe UI"/>
              </a:defRPr>
            </a:pPr>
            <a:r>
              <a:t>Kendala Teknis Sebelum Refaktor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Library @vladmandic/human membawa monolitik pipeline ML dalam satu bundle.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Ukuran bundle puluhan ribu baris menghasilkan cold-start sangat lambat di browser.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Penurunan frame-rate (lag) parah pada perangkat Android spesifikasi standar.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Kerentanan terhadap serangan manipulasi foto cetak, layar digital, dan request 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WAHANA SWB APP | BRANCH: FACE-ATTENDANCE-HUMAN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Pivot Arsitektur: Solusi Ringan &amp; Responsif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800"/>
              </a:spcAft>
              <a:defRPr sz="1550" b="1">
                <a:solidFill>
                  <a:srgbClr val="1D4ED8"/>
                </a:solidFill>
                <a:latin typeface="Segoe UI"/>
              </a:defRPr>
            </a:pPr>
            <a:r>
              <a:t>Strategi Pemisahan Komponen (Decoupling)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Menanggalkan dependency @vladmandic/human sepenuhnya dari codebase PWA.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Client PWA beralih ke @vladmandic/face-api khusus inferensi landmark lokal.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Deteksi wajah berat dialihkan ke sidecar microservice berbasis model YuNet ONNX.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Ukuran bundle JavaScript turun drastis, rendering instan, dan framerate stabil.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 b="1">
                <a:solidFill>
                  <a:srgbClr val="1D4ED8"/>
                </a:solidFill>
                <a:latin typeface="Segoe UI"/>
              </a:defRPr>
            </a:pPr>
            <a:r>
              <a:t>SKEMA REFAKTORISASI ENGINE BIOMETRIK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148840"/>
            <a:ext cx="4617720" cy="14630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200" b="1">
                <a:solidFill>
                  <a:srgbClr val="B91C1C"/>
                </a:solidFill>
                <a:latin typeface="Segoe UI"/>
              </a:defRPr>
            </a:pPr>
            <a:r>
              <a:t>SEBELUM REFAKTOR: MONOLITIK CLIENT</a:t>
            </a:r>
          </a:p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Library: @vladmandic/human</a:t>
            </a:r>
            <a:br/>
            <a:r>
              <a:t>Bundle &gt; 5 MB | Beban CPU Tinggi | Cold Start Lambat di Mobile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641080" y="3730752"/>
            <a:ext cx="411480" cy="32004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4160520"/>
            <a:ext cx="2194560" cy="16916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15803D"/>
                </a:solidFill>
                <a:latin typeface="Segoe UI"/>
              </a:defRPr>
            </a:pPr>
            <a:r>
              <a:t>CLIENT (RINGAN)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@vladmandic/face-api</a:t>
            </a:r>
            <a:br/>
            <a:r>
              <a:t>+ onnx MiniFASNet</a:t>
            </a:r>
            <a:br/>
            <a:br/>
            <a:r>
              <a:t>Inferensi Landmark Cepat &amp; UI Responsif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4160520"/>
            <a:ext cx="2194560" cy="16916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15803D"/>
                </a:solidFill>
                <a:latin typeface="Segoe UI"/>
              </a:defRPr>
            </a:pPr>
            <a:r>
              <a:t>SIDECAR (SERVER)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Node.js Microservice</a:t>
            </a:r>
            <a:br/>
            <a:r>
              <a:t>+ Model YuNet ONNX</a:t>
            </a:r>
            <a:br/>
            <a:br/>
            <a:r>
              <a:t>Deteksi Wajah Dominan &amp; Verifikasi Ulang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WAHANA SWB APP | BRANCH: FACE-ATTENDANCE-HUMAN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Arsitektur Sistem Terkini (3-Tier)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TIER 1: CLIENT (PWA BROWSER)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240280"/>
            <a:ext cx="283464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Vue 2 + Quasar Framework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UI PWA Mobile &amp; Kontrol Webcam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429000"/>
            <a:ext cx="283464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@vladmandic/face-api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Ekstraksi 68 Landmark &amp; Pose Liveness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617720"/>
            <a:ext cx="283464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onnxruntime-web (WASM)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MiniFASNetV2-SE Anti-Spoof Lokal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0520" y="3657600"/>
            <a:ext cx="365760" cy="32004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0876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691640"/>
            <a:ext cx="2926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TIER 2: BACKEND PERL DCAF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240280"/>
            <a:ext cx="283464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DCAF Controller: Mobile.pm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Endpoint API Presensi &amp; Resolusi Profil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3429000"/>
            <a:ext cx="283464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Same-Pose Face Matcher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Euclidean Distance vs Database Internal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4617720"/>
            <a:ext cx="283464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Single-Use Token Manager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Penerbitan &amp; Konsumsi Atomik proofNo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092440" y="3657600"/>
            <a:ext cx="365760" cy="32004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1508760"/>
            <a:ext cx="286481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1691640"/>
            <a:ext cx="25603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TIER 3: AI &amp;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240280"/>
            <a:ext cx="256032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AI Sidecar (:3100)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YuNet + MiniFASNet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3429000"/>
            <a:ext cx="2560320" cy="105156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B45309"/>
                </a:solidFill>
                <a:latin typeface="Segoe UI"/>
              </a:defRPr>
            </a:pPr>
            <a:r>
              <a:t>Redis In-Memory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Token attendance:proof (TTL 300s)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4617720"/>
            <a:ext cx="256032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MySQL Database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Tabel EACU (Template Biometrik)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WAHANA SWB APP | BRANCH: FACE-ATTENDANCE-HUMAN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Dual Anti-Spoofing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800"/>
              </a:spcAft>
              <a:defRPr sz="1550" b="1">
                <a:solidFill>
                  <a:srgbClr val="1D4ED8"/>
                </a:solidFill>
                <a:latin typeface="Segoe UI"/>
              </a:defRPr>
            </a:pPr>
            <a:r>
              <a:t>1. Client-Side Anti-Spoof (Pre-Capture)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Model MiniFASNetV2-SE quantized via onnxruntime-web (WASM).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Inferensi real-time langsung di browser sebelum penangkapan frame.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Mendeteksi anomali tekstur mikro, pantulan cahaya, dan moire pattern layar.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Visual feedback dinamis pada kamera: Lingkaran Merah (Spoof) vs Hijau (Real).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Mencegah pengiriman payload foto palsu ke jaringan backend sejak dini.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800"/>
              </a:spcAft>
              <a:defRPr sz="1550" b="1">
                <a:solidFill>
                  <a:srgbClr val="1D4ED8"/>
                </a:solidFill>
                <a:latin typeface="Segoe UI"/>
              </a:defRPr>
            </a:pPr>
            <a:r>
              <a:t>2. Server-Side Verification (Post-Capture)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Foto hasil auto-capture diverifikasi ulang di sidecar face-service.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Model YuNet mendeteksi lokasi dan bounding box wajah dominan.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MiniFASNet server-side mengevaluasi probabilitas keaslian fisik wajah.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Threshold keamanan ganda memastikan integritas data foto presensi.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Permintaan presensi otomatis ditolak jika terdeteksi foto cetak / layar.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WAHANA SWB APP | BRANCH: FACE-ATTENDANCE-HUMAN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Tampilan UI Presensi &amp; Deteksi Anti-Spoof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66344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15803D"/>
                </a:solidFill>
                <a:latin typeface="Segoe UI"/>
              </a:defRPr>
            </a:pPr>
            <a:r>
              <a:t>SKENARIO 1: WAJAH ASLI (REAL PERSON)</a:t>
            </a:r>
          </a:p>
        </p:txBody>
      </p:sp>
      <p:sp>
        <p:nvSpPr>
          <p:cNvPr id="9" name="Oval 8"/>
          <p:cNvSpPr/>
          <p:nvPr/>
        </p:nvSpPr>
        <p:spPr>
          <a:xfrm>
            <a:off x="2423160" y="2240280"/>
            <a:ext cx="1828800" cy="201168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80360" y="2606040"/>
            <a:ext cx="914400" cy="1097280"/>
          </a:xfrm>
          <a:prstGeom prst="ellipse">
            <a:avLst/>
          </a:prstGeom>
          <a:solidFill>
            <a:srgbClr val="DCFCE7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466344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200" b="1">
                <a:solidFill>
                  <a:srgbClr val="15803D"/>
                </a:solidFill>
                <a:latin typeface="Segoe UI"/>
              </a:defRPr>
            </a:pPr>
            <a:r>
              <a:t>Hasil Analisis: Skor Keaslian Wajah &gt; 0.85</a:t>
            </a:r>
            <a:br/>
            <a:r>
              <a:t>Panduan Visual: Lingkaran Hijau (Valid)</a:t>
            </a:r>
            <a:br/>
            <a:r>
              <a:t>Status Sistem: Melanjutkan ke Pose Tantangan Liveness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1508760"/>
            <a:ext cx="5212080" cy="46634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2415" y="1737360"/>
            <a:ext cx="466344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B91C1C"/>
                </a:solidFill>
                <a:latin typeface="Segoe UI"/>
              </a:defRPr>
            </a:pPr>
            <a:r>
              <a:t>SKENARIO 2: SERANGAN SPOOF (FOTO / LAYAR)</a:t>
            </a:r>
          </a:p>
        </p:txBody>
      </p:sp>
      <p:sp>
        <p:nvSpPr>
          <p:cNvPr id="14" name="Oval 13"/>
          <p:cNvSpPr/>
          <p:nvPr/>
        </p:nvSpPr>
        <p:spPr>
          <a:xfrm>
            <a:off x="7939735" y="2240280"/>
            <a:ext cx="1828800" cy="201168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42655" y="2560320"/>
            <a:ext cx="822960" cy="1188720"/>
          </a:xfrm>
          <a:prstGeom prst="roundRect">
            <a:avLst/>
          </a:prstGeom>
          <a:solidFill>
            <a:srgbClr val="FEE2E2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2415" y="4480560"/>
            <a:ext cx="466344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200" b="1">
                <a:solidFill>
                  <a:srgbClr val="B91C1C"/>
                </a:solidFill>
                <a:latin typeface="Segoe UI"/>
              </a:defRPr>
            </a:pPr>
            <a:r>
              <a:t>Hasil Analisis: Terdeteksi Pola Moire / Layar Ponsel</a:t>
            </a:r>
            <a:br/>
            <a:r>
              <a:t>Panduan Visual: Lingkaran Merah (Peringatan)</a:t>
            </a:r>
            <a:br/>
            <a:r>
              <a:t>Status Sistem: Auto-Capture Dibatalkan / Dicegah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WAHANA SWB APP | BRANCH: FACE-ATTENDANCE-HUMAN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Peningkatan Liveness: Pose Tantangan Acak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332073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966313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Segoe UI"/>
              </a:defRPr>
            </a:pPr>
            <a:r>
              <a:t>1. HEAD YAW (TOLEH)</a:t>
            </a:r>
          </a:p>
        </p:txBody>
      </p:sp>
      <p:sp>
        <p:nvSpPr>
          <p:cNvPr id="9" name="Curved Right Arrow 8"/>
          <p:cNvSpPr/>
          <p:nvPr/>
        </p:nvSpPr>
        <p:spPr>
          <a:xfrm>
            <a:off x="1691640" y="2240280"/>
            <a:ext cx="1371600" cy="1005840"/>
          </a:xfrm>
          <a:prstGeom prst="curved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2966313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Segoe UI"/>
              </a:defRPr>
            </a:pPr>
            <a:r>
              <a:t>Gerakan:</a:t>
            </a:r>
            <a:br/>
            <a:r>
              <a:t>Toleh Kiri / Toleh Kanan</a:t>
            </a:r>
            <a:br/>
            <a:br/>
            <a:r>
              <a:t>Logika Evaluasi:</a:t>
            </a:r>
            <a:br/>
            <a:r>
              <a:t>• Rasio simetri horizontal ujung hidung terhadap pupil mata.</a:t>
            </a:r>
            <a:br/>
            <a:r>
              <a:t>• Pergeseran kontur rahang 3D.</a:t>
            </a:r>
            <a:br/>
            <a:r>
              <a:t>• Ambang batas toleransi dinamis.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9353" y="1508760"/>
            <a:ext cx="3332073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233" y="1737360"/>
            <a:ext cx="2966313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Segoe UI"/>
              </a:defRPr>
            </a:pPr>
            <a:r>
              <a:t>2. HEAD TILT (PITCH)</a:t>
            </a:r>
          </a:p>
        </p:txBody>
      </p:sp>
      <p:sp>
        <p:nvSpPr>
          <p:cNvPr id="13" name="Up Arrow 12"/>
          <p:cNvSpPr/>
          <p:nvPr/>
        </p:nvSpPr>
        <p:spPr>
          <a:xfrm>
            <a:off x="5303520" y="2240280"/>
            <a:ext cx="502920" cy="502920"/>
          </a:xfrm>
          <a:prstGeom prst="up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6309360" y="2743200"/>
            <a:ext cx="502920" cy="50292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2233" y="3474720"/>
            <a:ext cx="2966313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Segoe UI"/>
              </a:defRPr>
            </a:pPr>
            <a:r>
              <a:t>Gerakan:</a:t>
            </a:r>
            <a:br/>
            <a:r>
              <a:t>Tengok Atas / Tengok Bawah</a:t>
            </a:r>
            <a:br/>
            <a:br/>
            <a:r>
              <a:t>Logika Evaluasi:</a:t>
            </a:r>
            <a:br/>
            <a:r>
              <a:t>• Rasio vertikal posisi hidung terhadap jarak mata-ke-dagu.</a:t>
            </a:r>
            <a:br/>
            <a:r>
              <a:t>• Menggantikan pose mulut terbuka (open mouth) yang kurang presisi.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187" y="1508760"/>
            <a:ext cx="3332073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067" y="1737360"/>
            <a:ext cx="2966313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Segoe UI"/>
              </a:defRPr>
            </a:pPr>
            <a:r>
              <a:t>3. SMILE &amp; MULTI-FACE</a:t>
            </a:r>
          </a:p>
        </p:txBody>
      </p:sp>
      <p:sp>
        <p:nvSpPr>
          <p:cNvPr id="18" name="Arc 17"/>
          <p:cNvSpPr/>
          <p:nvPr/>
        </p:nvSpPr>
        <p:spPr>
          <a:xfrm>
            <a:off x="9281160" y="2240280"/>
            <a:ext cx="1005840" cy="822960"/>
          </a:xfrm>
          <a:prstGeom prst="arc">
            <a:avLst/>
          </a:prstGeom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0067" y="3474720"/>
            <a:ext cx="2966313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Segoe UI"/>
              </a:defRPr>
            </a:pPr>
            <a:r>
              <a:t>Gerakan:</a:t>
            </a:r>
            <a:br/>
            <a:r>
              <a:t>Senyum Wajar (Smile)</a:t>
            </a:r>
            <a:br/>
            <a:br/>
            <a:r>
              <a:t>Logika Evaluasi:</a:t>
            </a:r>
            <a:br/>
            <a:r>
              <a:t>• Rasio pelebaran sudut bibir terhadap jarak antar pupil mata.</a:t>
            </a:r>
            <a:br/>
            <a:r>
              <a:t>• Multi-Face Rejection: Frame otomatis batal jika terdeteksi &gt; 1 wajah.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WAHANA SWB APP | BRANCH: FACE-ATTENDANCE-HUMAN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Server-Side Same-Pose Matching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800"/>
              </a:spcAft>
              <a:defRPr sz="1550" b="1">
                <a:solidFill>
                  <a:srgbClr val="1D4ED8"/>
                </a:solidFill>
                <a:latin typeface="Segoe UI"/>
              </a:defRPr>
            </a:pPr>
            <a:r>
              <a:t>Pencocokan Biometrik 1:1 Aman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Zero-Leak Biometrics: Data template biometrik tidak pernah dibocorkan ke browser.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Pencocokan Pose Spesifik: Vektor live pose dicocokkan spesifik ke template pose pendaftaran yang bersesuaian.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Contoh: Live turn_left diverifikasi langsung ke enroll photoLeft.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Validasi Euclidean Distance dihitung di backend Perl dengan threshold ketat.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Menghindari salah deteksi akibat perbedaan sudut perspektif wajah.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691640"/>
            <a:ext cx="466344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 b="1">
                <a:solidFill>
                  <a:srgbClr val="1D4ED8"/>
                </a:solidFill>
                <a:latin typeface="Segoe UI"/>
              </a:defRPr>
            </a:pPr>
            <a:r>
              <a:t>ILUSTRASI SAME-POSE MATCHING (1:1)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194560"/>
            <a:ext cx="1920240" cy="1005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Live Capture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Pose: Toleh Kiri</a:t>
            </a:r>
            <a:br/>
            <a:r>
              <a:t>(turn_left)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49640" y="2560320"/>
            <a:ext cx="41148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52560" y="2194560"/>
            <a:ext cx="2011680" cy="10058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15803D"/>
                </a:solidFill>
                <a:latin typeface="Segoe UI"/>
              </a:defRPr>
            </a:pPr>
            <a:r>
              <a:t>Enroll Template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Pose: photoLeft</a:t>
            </a:r>
            <a:br/>
            <a:r>
              <a:t>(Database EACU)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3474720"/>
            <a:ext cx="1920240" cy="1005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Live Capture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Pose: Senyum</a:t>
            </a:r>
            <a:br/>
            <a:r>
              <a:t>(smile)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549640" y="3840480"/>
            <a:ext cx="41148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52560" y="3474720"/>
            <a:ext cx="2011680" cy="10058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15803D"/>
                </a:solidFill>
                <a:latin typeface="Segoe UI"/>
              </a:defRPr>
            </a:pPr>
            <a:r>
              <a:t>Enroll Template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Pose: photoSmile</a:t>
            </a:r>
            <a:br/>
            <a:r>
              <a:t>(Database EACU)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4800600"/>
            <a:ext cx="4526280" cy="10058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15803D"/>
                </a:solidFill>
                <a:latin typeface="Segoe UI"/>
              </a:defRPr>
            </a:pPr>
            <a:r>
              <a:t>BACKEND PERL EUCLIDEAN DISTANCE EVALUATION</a:t>
            </a:r>
          </a:p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Jarak Vektor &lt;= Threshold (0.45)  -&gt;  Identitas Terkonfirmasi Sah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WAHANA SWB APP | BRANCH: FACE-ATTENDANCE-HUMAN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Registrasi Biometrik (Face Enrollment)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9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800"/>
              </a:spcAft>
              <a:defRPr sz="1550" b="1">
                <a:solidFill>
                  <a:srgbClr val="1D4ED8"/>
                </a:solidFill>
                <a:latin typeface="Segoe UI"/>
              </a:defRPr>
            </a:pPr>
            <a:r>
              <a:t>Perekaman Template Wajah Karyawan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Halaman registrasi biometrik: PTrIAbsenFaceRecognition.vue.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Perekaman bertahap 6 pose terarah: Center, Left, Right, Up, Down, Smile.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Ekstraksi vektor embedding 128 dimensi per pose wajah.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Penyimpanan terenkripsi di tabel database internal (EACU.AACUATR).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Template biometrik hanya dapat diakses internal oleh backend controller.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508760"/>
            <a:ext cx="52120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1250" b="1">
                <a:solidFill>
                  <a:srgbClr val="64748B"/>
                </a:solidFill>
                <a:latin typeface="Segoe UI"/>
              </a:defRPr>
            </a:pPr>
            <a:r>
              <a:t>[AREA SCREENSHOT: Antarmuka Registrasi Wajah Multi-Pose (PTrIAbsenFaceRecognition.vue)]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WAHANA SWB APP | BRANCH: FACE-ATTENDANCE-HUMAN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Pengamanan Transaksi: Single-Use Token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1014984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SIKLUS HIDUP TOKEN PROOFNO (PENCEGAHAN REPLAY ATTACK &amp; MANIPULASI API)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240280"/>
            <a:ext cx="2286000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1. Verifikasi Wajah Lolos</a:t>
            </a:r>
          </a:p>
          <a:p>
            <a:br/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Webcam lolos liveness.</a:t>
            </a:r>
            <a:br/>
            <a:br/>
            <a:r>
              <a:t>Endpoint API:</a:t>
            </a:r>
            <a:br/>
            <a:r>
              <a:t>/checkFaceRecongnition</a:t>
            </a:r>
            <a:br/>
            <a:r>
              <a:t>memvalidasi pose &amp; identitas.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83280" y="3200400"/>
            <a:ext cx="32004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94760" y="2240280"/>
            <a:ext cx="2286000" cy="219456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200" b="1">
                <a:solidFill>
                  <a:srgbClr val="B45309"/>
                </a:solidFill>
                <a:latin typeface="Segoe UI"/>
              </a:defRPr>
            </a:pPr>
            <a:r>
              <a:t>2. Terbitkan proofNo</a:t>
            </a:r>
          </a:p>
          <a:p>
            <a:br/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Backend men-generate token:</a:t>
            </a:r>
            <a:br/>
            <a:r>
              <a:t>PROOF-&lt;timestamp&gt;-&lt;hex&gt;</a:t>
            </a:r>
            <a:br/>
            <a:br/>
            <a:r>
              <a:t>Disimpan sementara di Redis</a:t>
            </a:r>
            <a:br/>
            <a:r>
              <a:t>dengan TTL 300 Detik.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172200" y="3200400"/>
            <a:ext cx="32004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2240280"/>
            <a:ext cx="2286000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3. Submit Presensi</a:t>
            </a:r>
          </a:p>
          <a:p>
            <a:br/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PWA mengirimkan payload:</a:t>
            </a:r>
            <a:br/>
            <a:r>
              <a:t>• Token proofNo</a:t>
            </a:r>
            <a:br/>
            <a:r>
              <a:t>• Koordinat GPS terverifikasi</a:t>
            </a:r>
            <a:br/>
            <a:r>
              <a:t>• Foto bukti presensi</a:t>
            </a:r>
            <a:br/>
            <a:r>
              <a:t>ke /attendanceSet.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61120" y="3200400"/>
            <a:ext cx="32004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72600" y="2240280"/>
            <a:ext cx="1783080" cy="21945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200" b="1">
                <a:solidFill>
                  <a:srgbClr val="B91C1C"/>
                </a:solidFill>
                <a:latin typeface="Segoe UI"/>
              </a:defRPr>
            </a:pPr>
            <a:r>
              <a:t>4. Token Dihapus</a:t>
            </a:r>
          </a:p>
          <a:p>
            <a:br/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Token Redis langsung</a:t>
            </a:r>
            <a:br/>
            <a:r>
              <a:t>di-DELETE secara atomik.</a:t>
            </a:r>
            <a:br/>
            <a:br/>
            <a:r>
              <a:t>Tidak dapat digunakan ulang (Replay Rejected).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09160"/>
            <a:ext cx="1014984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Segoe UI"/>
              </a:defRPr>
            </a:pPr>
            <a:r>
              <a:t>Hasil Keamanan: Setiap transaksi kehadiran dijamin unik (idempotent). Serangan replay atau request manipulasi otomatis ditolak oleh backend Perl jika token proofNo telah kedaluwarsa atau sudah terhapus.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WAHANA SWB APP | BRANCH: FACE-ATTENDANCE-HUMAN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Alur Presensi End-to-End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1014984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DIAGRAM ALUR PROSES PRESENSI LENGKAP (END-TO-END SEQUENCE PIPELINE)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240280"/>
            <a:ext cx="1536192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1. Akses Halaman</a:t>
            </a:r>
          </a:p>
          <a:p>
            <a:br/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Inisialisasi webcam &amp;</a:t>
            </a:r>
            <a:br/>
            <a:r>
              <a:t>muat model WASM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69464" y="3200400"/>
            <a:ext cx="128016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24912" y="2240280"/>
            <a:ext cx="1536192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2. Active Liveness</a:t>
            </a:r>
          </a:p>
          <a:p>
            <a:br/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Tantangan acak</a:t>
            </a:r>
            <a:br/>
            <a:r>
              <a:t>Yaw, Tilt, atau Smile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88536" y="3200400"/>
            <a:ext cx="128016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43983" y="2240280"/>
            <a:ext cx="1536192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3. Dual Anti-Spoof</a:t>
            </a:r>
          </a:p>
          <a:p>
            <a:br/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Analisis tekstur lokal &amp;</a:t>
            </a:r>
            <a:br/>
            <a:r>
              <a:t>validasi sidecar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07607" y="3200400"/>
            <a:ext cx="128016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63056" y="2240280"/>
            <a:ext cx="1536192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4. Check Face API</a:t>
            </a:r>
          </a:p>
          <a:p>
            <a:br/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Backend Same-Pose</a:t>
            </a:r>
            <a:br/>
            <a:r>
              <a:t>Matching 1:1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726680" y="3200400"/>
            <a:ext cx="128016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82127" y="2240280"/>
            <a:ext cx="1536192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5. Terbit Token</a:t>
            </a:r>
          </a:p>
          <a:p>
            <a:br/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Simpan proofNo</a:t>
            </a:r>
            <a:br/>
            <a:r>
              <a:t>di Redis (TTL 300s)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445751" y="3200400"/>
            <a:ext cx="128016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199" y="2240280"/>
            <a:ext cx="1536192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6. Submit Presensi</a:t>
            </a:r>
          </a:p>
          <a:p>
            <a:br/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Catat absensi &amp; hapus</a:t>
            </a:r>
            <a:br/>
            <a:r>
              <a:t>token Redis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09160"/>
            <a:ext cx="1014984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Hasil: Presensi tercatat sah dengan bukti foto ber-watermark waktu, koordinat GPS terverifikasi server, dan biometrik wajah yang tervalidasi tanpa kebocoran data biometrik ke sisi browser.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WAHANA SWB APP | BRANCH: FACE-ATTENDANCE-HUMAN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Ringkasan Hasil &amp; Rencana Selanjutnya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800"/>
              </a:spcAft>
              <a:defRPr sz="1550" b="1">
                <a:solidFill>
                  <a:srgbClr val="1D4ED8"/>
                </a:solidFill>
                <a:latin typeface="Segoe UI"/>
              </a:defRPr>
            </a:pPr>
            <a:r>
              <a:t>Pencapaian Utama (12 Commit)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Aplikasi PWA ringan dan responsif tanpa lag pada berbagai smartphone.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Perlindungan menyeluruh terhadap spoofing layar, foto cetak, dan video rekaman.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Keamanan biometrik terjamin dengan Zero-Leak dan Same-Pose Matching.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Pencatatan presensi terlindungi dari manipulasi request API berkat Single-Use Token.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Pipeline arsitektur modular yang siap di-scale ke lingkungan produksi.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800"/>
              </a:spcAft>
              <a:defRPr sz="1550" b="1">
                <a:solidFill>
                  <a:srgbClr val="1D4ED8"/>
                </a:solidFill>
                <a:latin typeface="Segoe UI"/>
              </a:defRPr>
            </a:pPr>
            <a:r>
              <a:t>Rencana Selanjutnya (Roadmap)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Peningkatan toleransi deteksi pada kondisi pencahayaan rendah (low-light).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Pengujian komprehensif pada variasi perangkat mobile entry-level.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Mekanisme caching model lokal yang lebih optimal pada service worker PWA.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•  Monitoring metrik latensi inferensi sidecar container di lingkungan production.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